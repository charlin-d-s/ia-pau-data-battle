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58-4AE3-B7F7-54A6D4DB0BFA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58-4AE3-B7F7-54A6D4DB0BFA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58-4AE3-B7F7-54A6D4DB0BFA}"/>
              </c:ext>
            </c:extLst>
          </c:dPt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Test</c:v>
                </c:pt>
                <c:pt idx="2">
                  <c:v>OOT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</c:v>
                </c:pt>
                <c:pt idx="1">
                  <c:v>0.85</c:v>
                </c:pt>
                <c:pt idx="2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58-4AE3-B7F7-54A6D4DB0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22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731520"/>
            <a:ext cx="1828800" cy="1828800"/>
          </a:xfrm>
          <a:prstGeom prst="ellipse">
            <a:avLst/>
          </a:prstGeom>
          <a:solidFill>
            <a:srgbClr val="F5A623">
              <a:alpha val="1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9144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fin d'alerte orageux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Météorage × Data Battle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657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XGBoost </a:t>
            </a: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prédire si un éclair nuage-sol surviendra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30 prochaines minutes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 des 6 aéroports partenaires.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2560320" cy="100584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49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507 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</a:rPr>
              <a:t>éclairs analysés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749040"/>
            <a:ext cx="2560320" cy="100584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749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</a:rPr>
              <a:t>aéroports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2560320" cy="100584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749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38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</a:rPr>
              <a:t>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complète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508760" cy="3291840"/>
          </a:xfrm>
          <a:prstGeom prst="rect">
            <a:avLst/>
          </a:prstGeom>
          <a:solidFill>
            <a:srgbClr val="065A82">
              <a:alpha val="90000"/>
            </a:srgbClr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777240"/>
            <a:ext cx="502920" cy="50292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Données brutes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37360"/>
            <a:ext cx="15087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507K éclairs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6 aéroports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2016–2022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2331720"/>
            <a:ext cx="21031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1938528" y="2249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93392" y="914400"/>
            <a:ext cx="1508760" cy="3291840"/>
          </a:xfrm>
          <a:prstGeom prst="rect">
            <a:avLst/>
          </a:prstGeom>
          <a:solidFill>
            <a:srgbClr val="1C7293">
              <a:alpha val="90000"/>
            </a:srgbClr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777240"/>
            <a:ext cx="502920" cy="5029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93392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Engineering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30552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993392" y="1737360"/>
            <a:ext cx="15087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Délais, comptages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rolling, trajectoire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Amplitude, spatial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02152" y="2331720"/>
            <a:ext cx="21031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249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12464" y="914400"/>
            <a:ext cx="1508760" cy="3291840"/>
          </a:xfrm>
          <a:prstGeom prst="rect">
            <a:avLst/>
          </a:prstGeom>
          <a:solidFill>
            <a:srgbClr val="028090">
              <a:alpha val="90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15384" y="777240"/>
            <a:ext cx="502920" cy="5029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15384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12464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Sélection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Spearman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9624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1737360"/>
            <a:ext cx="15087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38 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redondances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filtrées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21224" y="2331720"/>
            <a:ext cx="21031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5376672" y="2249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31536" y="914400"/>
            <a:ext cx="1508760" cy="3291840"/>
          </a:xfrm>
          <a:prstGeom prst="rect">
            <a:avLst/>
          </a:prstGeom>
          <a:solidFill>
            <a:srgbClr val="0A7D6E">
              <a:alpha val="90000"/>
            </a:srgbClr>
          </a:solidFill>
          <a:ln w="19050">
            <a:solidFill>
              <a:srgbClr val="0A7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34456" y="777240"/>
            <a:ext cx="502920" cy="502920"/>
          </a:xfrm>
          <a:prstGeom prst="ellipse">
            <a:avLst/>
          </a:prstGeom>
          <a:solidFill>
            <a:srgbClr val="0A7D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34456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31536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Tuning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68696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31536" y="1737360"/>
            <a:ext cx="15087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Optuna 30 trials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TimeSeriesSplit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Stratifié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40296" y="2331720"/>
            <a:ext cx="21031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7095744" y="22494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50608" y="914400"/>
            <a:ext cx="1508760" cy="3291840"/>
          </a:xfrm>
          <a:prstGeom prst="rect">
            <a:avLst/>
          </a:prstGeom>
          <a:solidFill>
            <a:srgbClr val="F5A623">
              <a:alpha val="90000"/>
            </a:srgbClr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53528" y="777240"/>
            <a:ext cx="502920" cy="502920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53528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50608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Évaluation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Seuil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287768" y="1691640"/>
            <a:ext cx="12344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150608" y="1737360"/>
            <a:ext cx="15087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AUC, Gini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Par aéroport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OOT 2022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Split temporel strict : Train 2016–2021 | OOT 2022 (hors temps)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 Engineering — 38 variables construites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Délais temporels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time_since_last_lightning2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09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time_since_last_cloud_ground2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time_since_last_intra_cloud2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→ log(délai + 1), censuré à 1h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Activité rolling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61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log_count_{1,5,10,20,30}min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09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log_cg_count_{5,10,20}min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568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log_ic_count_{5,10,20}min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304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rate_trend, activity_decay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41148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 Spatial &amp; Trajectoire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319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mean/min_dist_{1,5,10}min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6667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storm_spread, storm_center_distance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0142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storm_velocity, distance_trend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361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azimuth_change, storm_direction_change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8803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7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880360"/>
            <a:ext cx="4114800" cy="384048"/>
          </a:xfrm>
          <a:prstGeom prst="rect">
            <a:avLst/>
          </a:prstGeom>
          <a:solidFill>
            <a:srgbClr val="0A7D6E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Intensité électrique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319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D6E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mean/max_amplitude_{1,10}min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6667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D6E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amplitude_change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0142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D6E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log_std_amplitude_10min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361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D6E"/>
                </a:solidFill>
              </a:rPr>
              <a:t>•  </a:t>
            </a:r>
            <a:r>
              <a:rPr lang="en-US" sz="1100" dirty="0">
                <a:solidFill>
                  <a:srgbClr val="1E293B"/>
                </a:solidFill>
              </a:rPr>
              <a:t>burst_indicator, cg_ratio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5A623">
              <a:alpha val="8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🎯  Cible : </a:t>
            </a: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next_30min_cg20</a:t>
            </a:r>
            <a:r>
              <a:rPr lang="en-US" sz="1200" dirty="0">
                <a:solidFill>
                  <a:srgbClr val="0A1628"/>
                </a:solidFill>
              </a:rPr>
              <a:t>  =  P(prochain éclair CG ≤ 20km dans les 30 min suivantes)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Comment fonctionne le modèle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2560320" cy="4023360"/>
          </a:xfrm>
          <a:prstGeom prst="rect">
            <a:avLst/>
          </a:prstGeom>
          <a:solidFill>
            <a:srgbClr val="065A82">
              <a:alpha val="12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5603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ENTRÉES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⏱  Silence depuis dernier CG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755648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📉  Tendance activité (accélère ?)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49424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📍  Distance &amp; direction éclairs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743200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⚡  Amplitude récente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236976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🌩  Ratio IC / CG (10 min)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📅  Saison, heure, aéroport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2606040"/>
            <a:ext cx="457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1371600"/>
            <a:ext cx="2560320" cy="22860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1481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XGBoost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10128" y="2057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E8"/>
                </a:solidFill>
              </a:rPr>
              <a:t>791 arbres
profondeur 7
tuné avec Optuna
38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0448" y="2606040"/>
            <a:ext cx="457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55664" y="1371600"/>
            <a:ext cx="2377440" cy="2286000"/>
          </a:xfrm>
          <a:prstGeom prst="rect">
            <a:avLst/>
          </a:prstGeom>
          <a:solidFill>
            <a:srgbClr val="F5A623">
              <a:alpha val="90000"/>
            </a:srgbClr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55664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SORTIE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55664" y="1901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Probabilité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55664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</a:rPr>
              <a:t>P(éclair CG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</a:rPr>
              <a:t>dans 30 min)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3090672"/>
            <a:ext cx="1920240" cy="27432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3090672"/>
            <a:ext cx="475488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18%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Règle opérationnelle : </a:t>
            </a:r>
            <a:r>
              <a:rPr lang="en-US" sz="1200" dirty="0">
                <a:solidFill>
                  <a:srgbClr val="FFFFFF"/>
                </a:solidFill>
              </a:rPr>
              <a:t>si P &lt; seuil ET N éclairs ≥ 3 dans l'alerte  →  </a:t>
            </a:r>
            <a:r>
              <a:rPr lang="en-US" sz="1200" b="1" dirty="0">
                <a:solidFill>
                  <a:srgbClr val="10B981"/>
                </a:solidFill>
              </a:rPr>
              <a:t>✅ Lever l'alerte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Performances du modèle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0"/>
            <a:ext cx="1920240" cy="118872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046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0.87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AUC Train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ROC AUC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731520"/>
            <a:ext cx="1920240" cy="118872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8046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0.85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AUC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ROC AUC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731520"/>
            <a:ext cx="1920240" cy="118872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8046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0.84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AUC OOT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Hors temps 2022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731520"/>
            <a:ext cx="1920240" cy="1188720"/>
          </a:xfrm>
          <a:prstGeom prst="rect">
            <a:avLst/>
          </a:prstGeom>
          <a:solidFill>
            <a:srgbClr val="F5A623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8046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0.73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Gini OOT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2×AUC - 1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AUC par aéroport — OOT 2022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423160"/>
            <a:ext cx="50292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4231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Aéroport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36192" y="24231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98064" y="24231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Gini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59936" y="24231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743200"/>
            <a:ext cx="50292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2743200"/>
            <a:ext cx="54864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" y="2743200"/>
            <a:ext cx="12618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Ajaccio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36192" y="27432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0.86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98064" y="27432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</a:rPr>
              <a:t>0.72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59936" y="2834640"/>
            <a:ext cx="11887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4059936" y="2834640"/>
            <a:ext cx="855878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063240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063240"/>
            <a:ext cx="54864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" y="3063240"/>
            <a:ext cx="12618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Bastia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36192" y="30632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0.85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98064" y="30632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</a:rPr>
              <a:t>0.70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59936" y="3154680"/>
            <a:ext cx="11887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8"/>
          <p:cNvSpPr/>
          <p:nvPr/>
        </p:nvSpPr>
        <p:spPr>
          <a:xfrm>
            <a:off x="4059936" y="3154680"/>
            <a:ext cx="832104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3383280"/>
            <a:ext cx="50292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3383280"/>
            <a:ext cx="54864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" y="3383280"/>
            <a:ext cx="12618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Bron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536192" y="33832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0.84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98064" y="33832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</a:rPr>
              <a:t>0.68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059936" y="3474720"/>
            <a:ext cx="11887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4059936" y="3474720"/>
            <a:ext cx="80833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Shape 46"/>
          <p:cNvSpPr/>
          <p:nvPr/>
        </p:nvSpPr>
        <p:spPr>
          <a:xfrm>
            <a:off x="274320" y="3703320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9" name="Shape 47"/>
          <p:cNvSpPr/>
          <p:nvPr/>
        </p:nvSpPr>
        <p:spPr>
          <a:xfrm>
            <a:off x="274320" y="3703320"/>
            <a:ext cx="54864" cy="320040"/>
          </a:xfrm>
          <a:prstGeom prst="rect">
            <a:avLst/>
          </a:prstGeom>
          <a:solidFill>
            <a:srgbClr val="0A7D6E"/>
          </a:solidFill>
          <a:ln/>
        </p:spPr>
      </p:sp>
      <p:sp>
        <p:nvSpPr>
          <p:cNvPr id="50" name="Text 48"/>
          <p:cNvSpPr/>
          <p:nvPr/>
        </p:nvSpPr>
        <p:spPr>
          <a:xfrm>
            <a:off x="329184" y="3703320"/>
            <a:ext cx="12618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Nantes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536192" y="37033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0.83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98064" y="37033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</a:rPr>
              <a:t>0.66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059936" y="3794760"/>
            <a:ext cx="11887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52"/>
          <p:cNvSpPr/>
          <p:nvPr/>
        </p:nvSpPr>
        <p:spPr>
          <a:xfrm>
            <a:off x="4059936" y="3794760"/>
            <a:ext cx="784555" cy="137160"/>
          </a:xfrm>
          <a:prstGeom prst="rect">
            <a:avLst/>
          </a:prstGeom>
          <a:solidFill>
            <a:srgbClr val="0A7D6E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4023360"/>
            <a:ext cx="50292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274320" y="4023360"/>
            <a:ext cx="54864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7" name="Text 55"/>
          <p:cNvSpPr/>
          <p:nvPr/>
        </p:nvSpPr>
        <p:spPr>
          <a:xfrm>
            <a:off x="32918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Biarritz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536192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0.82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79806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</a:rPr>
              <a:t>0.64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059936" y="4114800"/>
            <a:ext cx="11887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Shape 59"/>
          <p:cNvSpPr/>
          <p:nvPr/>
        </p:nvSpPr>
        <p:spPr>
          <a:xfrm>
            <a:off x="4059936" y="4114800"/>
            <a:ext cx="760781" cy="1371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2" name="Shape 60"/>
          <p:cNvSpPr/>
          <p:nvPr/>
        </p:nvSpPr>
        <p:spPr>
          <a:xfrm>
            <a:off x="274320" y="4343400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3" name="Shape 61"/>
          <p:cNvSpPr/>
          <p:nvPr/>
        </p:nvSpPr>
        <p:spPr>
          <a:xfrm>
            <a:off x="274320" y="4343400"/>
            <a:ext cx="54864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4" name="Text 62"/>
          <p:cNvSpPr/>
          <p:nvPr/>
        </p:nvSpPr>
        <p:spPr>
          <a:xfrm>
            <a:off x="329184" y="4343400"/>
            <a:ext cx="12618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Pise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536192" y="43434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0.81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798064" y="43434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</a:rPr>
              <a:t>0.62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059936" y="4434840"/>
            <a:ext cx="11887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Shape 66"/>
          <p:cNvSpPr/>
          <p:nvPr/>
        </p:nvSpPr>
        <p:spPr>
          <a:xfrm>
            <a:off x="4059936" y="4434840"/>
            <a:ext cx="737006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Stabilité OOT vs Test</a:t>
            </a:r>
            <a:endParaRPr lang="en-US" sz="1300" dirty="0"/>
          </a:p>
        </p:txBody>
      </p:sp>
      <p:graphicFrame>
        <p:nvGraphicFramePr>
          <p:cNvPr id="70" name="Chart 0"/>
          <p:cNvGraphicFramePr/>
          <p:nvPr/>
        </p:nvGraphicFramePr>
        <p:xfrm>
          <a:off x="5394960" y="2423160"/>
          <a:ext cx="34747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1" name="Text 68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Valeurs indicatives basées sur les notebooks fournis — à mettre à jour avec les résultats finaux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Simulation opérationnelle — gain de temps vs règle des 30 min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38404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38404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⏰ Règle actuelle — 30 min fixe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Dernier éclair CG détecté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Attente systématique 30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76856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Levée d'alerte automatique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52344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❌ Aucune prise en compte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   du contexte de l'orage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03320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❌ Même délai pour un orage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   intense ou en dissipation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VS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29200" y="777240"/>
            <a:ext cx="38404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77724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777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Modèle XGBoost — seuil adaptatif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325880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Dernier éclair CG détecté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801368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Calcul de P(CG dans 30 min)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276856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Levée si P &lt; seuil ET N ≥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752344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227832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Contexte pris en compte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   délai, activité, trajectoire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3703320"/>
            <a:ext cx="35661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Gain moyen estimé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   ~10–15 min par alerte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F5A623">
              <a:alpha val="8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Gain estimé : </a:t>
            </a:r>
            <a:r>
              <a:rPr lang="en-US" sz="1200" b="1" dirty="0">
                <a:solidFill>
                  <a:srgbClr val="065A82"/>
                </a:solidFill>
              </a:rPr>
              <a:t>+10 à 15 minutes</a:t>
            </a:r>
            <a:r>
              <a:rPr lang="en-US" sz="1200" dirty="0">
                <a:solidFill>
                  <a:srgbClr val="0A1628"/>
                </a:solidFill>
              </a:rPr>
              <a:t> par alerte levée  |  Sécurité préservée : seuil calibré par aéroport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-29030"/>
            <a:ext cx="9089136" cy="37919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37719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1266444" y="0"/>
            <a:ext cx="66522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Logique opérationnelle du système d'alerte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749040" y="304848"/>
            <a:ext cx="1645920" cy="288036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0" y="377190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Premier éclair de l'orage</a:t>
            </a:r>
            <a:endParaRPr lang="en-US" sz="563" dirty="0"/>
          </a:p>
        </p:txBody>
      </p:sp>
      <p:sp>
        <p:nvSpPr>
          <p:cNvPr id="7" name="Shape 5"/>
          <p:cNvSpPr/>
          <p:nvPr/>
        </p:nvSpPr>
        <p:spPr>
          <a:xfrm>
            <a:off x="4572000" y="665226"/>
            <a:ext cx="6858" cy="123444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902964" y="758015"/>
            <a:ext cx="1371600" cy="244831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788670"/>
            <a:ext cx="1371600" cy="244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Attente Δt = 1 min</a:t>
            </a:r>
            <a:endParaRPr lang="en-US" sz="563" dirty="0"/>
          </a:p>
        </p:txBody>
      </p:sp>
      <p:sp>
        <p:nvSpPr>
          <p:cNvPr id="10" name="Shape 8"/>
          <p:cNvSpPr/>
          <p:nvPr/>
        </p:nvSpPr>
        <p:spPr>
          <a:xfrm>
            <a:off x="4572000" y="1033501"/>
            <a:ext cx="6858" cy="123444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406140" y="1156945"/>
            <a:ext cx="2331720" cy="288036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14416" y="1156945"/>
            <a:ext cx="123444" cy="12961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t"/>
          <a:lstStyle/>
          <a:p>
            <a:r>
              <a:rPr lang="en-US" sz="675" b="1" dirty="0">
                <a:solidFill>
                  <a:srgbClr val="FFFFFF"/>
                </a:solidFill>
              </a:rPr>
              <a:t>?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406140" y="1163803"/>
            <a:ext cx="2331720" cy="149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Modèle 30 min</a:t>
            </a:r>
            <a:endParaRPr lang="en-US" sz="563" dirty="0"/>
          </a:p>
        </p:txBody>
      </p:sp>
      <p:sp>
        <p:nvSpPr>
          <p:cNvPr id="14" name="Text 12"/>
          <p:cNvSpPr/>
          <p:nvPr/>
        </p:nvSpPr>
        <p:spPr>
          <a:xfrm>
            <a:off x="3406140" y="1300963"/>
            <a:ext cx="233172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FFFFFF"/>
                </a:solidFill>
              </a:rPr>
              <a:t>CG ≤ 20km dans les 30 min ?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4572000" y="1444981"/>
            <a:ext cx="6858" cy="123444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737860" y="1300963"/>
            <a:ext cx="548640" cy="6858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5737860" y="1198093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6286500" y="1156945"/>
            <a:ext cx="960120" cy="288036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M" sz="1350" dirty="0"/>
          </a:p>
        </p:txBody>
      </p:sp>
      <p:sp>
        <p:nvSpPr>
          <p:cNvPr id="19" name="Text 17"/>
          <p:cNvSpPr/>
          <p:nvPr/>
        </p:nvSpPr>
        <p:spPr>
          <a:xfrm>
            <a:off x="6286500" y="1163803"/>
            <a:ext cx="960120" cy="149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Surveillance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6286500" y="1300963"/>
            <a:ext cx="96012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dirty="0">
                <a:solidFill>
                  <a:srgbClr val="FFFFFF"/>
                </a:solidFill>
              </a:rPr>
              <a:t>Relance </a:t>
            </a:r>
            <a:r>
              <a:rPr lang="en-US" sz="488" dirty="0" err="1">
                <a:solidFill>
                  <a:srgbClr val="FFFFFF"/>
                </a:solidFill>
              </a:rPr>
              <a:t>dès</a:t>
            </a:r>
            <a:r>
              <a:rPr lang="en-US" sz="488" dirty="0">
                <a:solidFill>
                  <a:srgbClr val="FFFFFF"/>
                </a:solidFill>
              </a:rPr>
              <a:t> le prochain éclair</a:t>
            </a:r>
            <a:endParaRPr lang="en-US" sz="488" dirty="0"/>
          </a:p>
        </p:txBody>
      </p:sp>
      <p:sp>
        <p:nvSpPr>
          <p:cNvPr id="21" name="Shape 19"/>
          <p:cNvSpPr/>
          <p:nvPr/>
        </p:nvSpPr>
        <p:spPr>
          <a:xfrm>
            <a:off x="6766560" y="1066418"/>
            <a:ext cx="6858" cy="104651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578191" y="1052703"/>
            <a:ext cx="2194560" cy="6858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572000" y="745465"/>
            <a:ext cx="6858" cy="411480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arrow"/>
          </a:ln>
        </p:spPr>
        <p:txBody>
          <a:bodyPr/>
          <a:lstStyle/>
          <a:p>
            <a:endParaRPr lang="fr-CM" sz="1350" dirty="0"/>
          </a:p>
        </p:txBody>
      </p:sp>
      <p:sp>
        <p:nvSpPr>
          <p:cNvPr id="24" name="Text 22"/>
          <p:cNvSpPr/>
          <p:nvPr/>
        </p:nvSpPr>
        <p:spPr>
          <a:xfrm>
            <a:off x="4599432" y="1444981"/>
            <a:ext cx="2743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3433572" y="1576655"/>
            <a:ext cx="2331720" cy="288036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14416" y="1568425"/>
            <a:ext cx="123444" cy="12961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t"/>
          <a:lstStyle/>
          <a:p>
            <a:r>
              <a:rPr lang="en-US" sz="675" b="1" dirty="0">
                <a:solidFill>
                  <a:srgbClr val="FFFFFF"/>
                </a:solidFill>
              </a:rPr>
              <a:t>?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406140" y="1568425"/>
            <a:ext cx="23317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Dans moins de 15 min ?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4572000" y="1856461"/>
            <a:ext cx="6858" cy="123444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737860" y="1712443"/>
            <a:ext cx="706374" cy="399206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6321362" y="2416047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6418612" y="2094248"/>
            <a:ext cx="1229201" cy="286594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M" sz="1350" dirty="0"/>
          </a:p>
        </p:txBody>
      </p:sp>
      <p:sp>
        <p:nvSpPr>
          <p:cNvPr id="32" name="Text 30"/>
          <p:cNvSpPr/>
          <p:nvPr/>
        </p:nvSpPr>
        <p:spPr>
          <a:xfrm>
            <a:off x="6473570" y="2185283"/>
            <a:ext cx="1155192" cy="14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Nouveaux éclairs dans les Δ = 5 min</a:t>
            </a:r>
            <a:endParaRPr lang="en-US" sz="563" dirty="0"/>
          </a:p>
          <a:p>
            <a:pPr algn="ctr"/>
            <a:r>
              <a:rPr lang="en-US" sz="563" b="1" dirty="0">
                <a:solidFill>
                  <a:srgbClr val="FFFFFF"/>
                </a:solidFill>
              </a:rPr>
              <a:t>?</a:t>
            </a:r>
            <a:endParaRPr lang="en-US" sz="563" dirty="0"/>
          </a:p>
        </p:txBody>
      </p:sp>
      <p:sp>
        <p:nvSpPr>
          <p:cNvPr id="34" name="Shape 32"/>
          <p:cNvSpPr/>
          <p:nvPr/>
        </p:nvSpPr>
        <p:spPr>
          <a:xfrm>
            <a:off x="6766560" y="1396975"/>
            <a:ext cx="6858" cy="171450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4572000" y="1396975"/>
            <a:ext cx="2194560" cy="6858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none"/>
          </a:ln>
        </p:spPr>
        <p:txBody>
          <a:bodyPr/>
          <a:lstStyle/>
          <a:p>
            <a:endParaRPr lang="fr-CM" sz="1350" dirty="0"/>
          </a:p>
        </p:txBody>
      </p:sp>
      <p:sp>
        <p:nvSpPr>
          <p:cNvPr id="36" name="Shape 34"/>
          <p:cNvSpPr/>
          <p:nvPr/>
        </p:nvSpPr>
        <p:spPr>
          <a:xfrm>
            <a:off x="4572000" y="1396975"/>
            <a:ext cx="6858" cy="171450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4632960" y="1844117"/>
            <a:ext cx="2743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38" name="Shape 36"/>
          <p:cNvSpPr/>
          <p:nvPr/>
        </p:nvSpPr>
        <p:spPr>
          <a:xfrm>
            <a:off x="3433572" y="1983563"/>
            <a:ext cx="2331720" cy="288036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14416" y="1979905"/>
            <a:ext cx="123444" cy="12961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t"/>
          <a:lstStyle/>
          <a:p>
            <a:r>
              <a:rPr lang="en-US" sz="675" b="1" dirty="0">
                <a:solidFill>
                  <a:srgbClr val="FFFFFF"/>
                </a:solidFill>
              </a:rPr>
              <a:t>?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3406140" y="1986763"/>
            <a:ext cx="2331720" cy="149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Éclair prédit à &lt; 3 km ?</a:t>
            </a:r>
            <a:endParaRPr lang="en-US" sz="563" dirty="0"/>
          </a:p>
        </p:txBody>
      </p:sp>
      <p:sp>
        <p:nvSpPr>
          <p:cNvPr id="41" name="Text 39"/>
          <p:cNvSpPr/>
          <p:nvPr/>
        </p:nvSpPr>
        <p:spPr>
          <a:xfrm>
            <a:off x="3387090" y="2084070"/>
            <a:ext cx="2350770" cy="18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FFFFFF"/>
                </a:solidFill>
              </a:rPr>
              <a:t>Modèle danger immédiat</a:t>
            </a:r>
            <a:endParaRPr lang="en-US" sz="450" dirty="0"/>
          </a:p>
        </p:txBody>
      </p:sp>
      <p:sp>
        <p:nvSpPr>
          <p:cNvPr id="42" name="Shape 40"/>
          <p:cNvSpPr/>
          <p:nvPr/>
        </p:nvSpPr>
        <p:spPr>
          <a:xfrm>
            <a:off x="4572000" y="2267941"/>
            <a:ext cx="6858" cy="123444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3406140" y="2123923"/>
            <a:ext cx="0" cy="6858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44" name="Text 42"/>
          <p:cNvSpPr/>
          <p:nvPr/>
        </p:nvSpPr>
        <p:spPr>
          <a:xfrm>
            <a:off x="4434840" y="2275828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1897380" y="1979905"/>
            <a:ext cx="960120" cy="288036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897380" y="1986763"/>
            <a:ext cx="960120" cy="149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Alerte immédiate</a:t>
            </a:r>
            <a:endParaRPr lang="en-US" sz="563" dirty="0"/>
          </a:p>
        </p:txBody>
      </p:sp>
      <p:sp>
        <p:nvSpPr>
          <p:cNvPr id="47" name="Text 45"/>
          <p:cNvSpPr/>
          <p:nvPr/>
        </p:nvSpPr>
        <p:spPr>
          <a:xfrm>
            <a:off x="1897380" y="2123923"/>
            <a:ext cx="96012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dirty="0">
                <a:solidFill>
                  <a:srgbClr val="FFFFFF"/>
                </a:solidFill>
              </a:rPr>
              <a:t>10 min</a:t>
            </a:r>
            <a:endParaRPr lang="en-US" sz="488" dirty="0"/>
          </a:p>
        </p:txBody>
      </p:sp>
      <p:sp>
        <p:nvSpPr>
          <p:cNvPr id="48" name="Text 46"/>
          <p:cNvSpPr/>
          <p:nvPr/>
        </p:nvSpPr>
        <p:spPr>
          <a:xfrm>
            <a:off x="4599432" y="2144497"/>
            <a:ext cx="2743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49" name="Shape 47"/>
          <p:cNvSpPr/>
          <p:nvPr/>
        </p:nvSpPr>
        <p:spPr>
          <a:xfrm>
            <a:off x="3406140" y="2391385"/>
            <a:ext cx="2331720" cy="28803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14416" y="2391385"/>
            <a:ext cx="123444" cy="12961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t"/>
          <a:lstStyle/>
          <a:p>
            <a:r>
              <a:rPr lang="en-US" sz="675" b="1" dirty="0">
                <a:solidFill>
                  <a:srgbClr val="FFFFFF"/>
                </a:solidFill>
              </a:rPr>
              <a:t>?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3406140" y="2398243"/>
            <a:ext cx="2331720" cy="149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Modèle 10 min</a:t>
            </a:r>
            <a:endParaRPr lang="en-US" sz="563" dirty="0"/>
          </a:p>
        </p:txBody>
      </p:sp>
      <p:sp>
        <p:nvSpPr>
          <p:cNvPr id="52" name="Text 50"/>
          <p:cNvSpPr/>
          <p:nvPr/>
        </p:nvSpPr>
        <p:spPr>
          <a:xfrm>
            <a:off x="3406140" y="2535403"/>
            <a:ext cx="233172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FFFFFF"/>
                </a:solidFill>
              </a:rPr>
              <a:t>CG ≤ 20km dans les 10 min ?</a:t>
            </a:r>
            <a:endParaRPr lang="en-US" sz="450" dirty="0"/>
          </a:p>
        </p:txBody>
      </p:sp>
      <p:sp>
        <p:nvSpPr>
          <p:cNvPr id="53" name="Shape 51"/>
          <p:cNvSpPr/>
          <p:nvPr/>
        </p:nvSpPr>
        <p:spPr>
          <a:xfrm>
            <a:off x="4572000" y="2679421"/>
            <a:ext cx="6858" cy="123444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 flipV="1">
            <a:off x="5737860" y="2248173"/>
            <a:ext cx="649986" cy="28723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5524214" y="2445152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59" name="Text 57"/>
          <p:cNvSpPr/>
          <p:nvPr/>
        </p:nvSpPr>
        <p:spPr>
          <a:xfrm>
            <a:off x="4599432" y="2555977"/>
            <a:ext cx="2743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60" name="Shape 58"/>
          <p:cNvSpPr/>
          <p:nvPr/>
        </p:nvSpPr>
        <p:spPr>
          <a:xfrm>
            <a:off x="3406140" y="2802865"/>
            <a:ext cx="2331720" cy="288036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406140" y="2802865"/>
            <a:ext cx="23317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Alerte déclenchée — 10 min</a:t>
            </a:r>
            <a:endParaRPr lang="en-US" sz="563" dirty="0"/>
          </a:p>
        </p:txBody>
      </p:sp>
      <p:sp>
        <p:nvSpPr>
          <p:cNvPr id="62" name="Shape 60"/>
          <p:cNvSpPr/>
          <p:nvPr/>
        </p:nvSpPr>
        <p:spPr>
          <a:xfrm>
            <a:off x="2377440" y="2267941"/>
            <a:ext cx="6858" cy="678942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2377440" y="2946883"/>
            <a:ext cx="1028700" cy="6858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4572000" y="3090901"/>
            <a:ext cx="6858" cy="123444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3406140" y="3214345"/>
            <a:ext cx="2331720" cy="288036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614416" y="3214345"/>
            <a:ext cx="123444" cy="129617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t"/>
          <a:lstStyle/>
          <a:p>
            <a:r>
              <a:rPr lang="en-US" sz="675" b="1" dirty="0">
                <a:solidFill>
                  <a:srgbClr val="FFFFFF"/>
                </a:solidFill>
              </a:rPr>
              <a:t>?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3406140" y="3214345"/>
            <a:ext cx="23317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Nouveaux éclairs durant l'alerte ?</a:t>
            </a:r>
            <a:endParaRPr lang="en-US" sz="563" dirty="0"/>
          </a:p>
        </p:txBody>
      </p:sp>
      <p:sp>
        <p:nvSpPr>
          <p:cNvPr id="68" name="Shape 66"/>
          <p:cNvSpPr/>
          <p:nvPr/>
        </p:nvSpPr>
        <p:spPr>
          <a:xfrm>
            <a:off x="4572000" y="3502381"/>
            <a:ext cx="6858" cy="588416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5737860" y="3358363"/>
            <a:ext cx="548640" cy="6858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70" name="Text 68"/>
          <p:cNvSpPr/>
          <p:nvPr/>
        </p:nvSpPr>
        <p:spPr>
          <a:xfrm>
            <a:off x="5737860" y="3255493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71" name="Shape 69"/>
          <p:cNvSpPr/>
          <p:nvPr/>
        </p:nvSpPr>
        <p:spPr>
          <a:xfrm>
            <a:off x="6286500" y="3214345"/>
            <a:ext cx="960120" cy="273635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123176" y="3214345"/>
            <a:ext cx="123444" cy="123136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t"/>
          <a:lstStyle/>
          <a:p>
            <a:r>
              <a:rPr lang="en-US" sz="675" b="1" dirty="0">
                <a:solidFill>
                  <a:srgbClr val="FFFFFF"/>
                </a:solidFill>
              </a:rPr>
              <a:t>?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6286500" y="3221203"/>
            <a:ext cx="960120" cy="14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 err="1">
                <a:solidFill>
                  <a:srgbClr val="FFFFFF"/>
                </a:solidFill>
              </a:rPr>
              <a:t>Modèle</a:t>
            </a:r>
            <a:r>
              <a:rPr lang="en-US" sz="563" b="1" dirty="0">
                <a:solidFill>
                  <a:srgbClr val="FFFFFF"/>
                </a:solidFill>
              </a:rPr>
              <a:t> 10 min</a:t>
            </a:r>
            <a:endParaRPr lang="en-US" sz="563" dirty="0"/>
          </a:p>
        </p:txBody>
      </p:sp>
      <p:sp>
        <p:nvSpPr>
          <p:cNvPr id="74" name="Text 72"/>
          <p:cNvSpPr/>
          <p:nvPr/>
        </p:nvSpPr>
        <p:spPr>
          <a:xfrm>
            <a:off x="6286500" y="3351163"/>
            <a:ext cx="960120" cy="136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FFFFFF"/>
                </a:solidFill>
              </a:rPr>
              <a:t>CG </a:t>
            </a:r>
            <a:r>
              <a:rPr lang="en-US" sz="450" dirty="0" err="1">
                <a:solidFill>
                  <a:srgbClr val="FFFFFF"/>
                </a:solidFill>
              </a:rPr>
              <a:t>prévu</a:t>
            </a:r>
            <a:r>
              <a:rPr lang="en-US" sz="450" dirty="0">
                <a:solidFill>
                  <a:srgbClr val="FFFFFF"/>
                </a:solidFill>
              </a:rPr>
              <a:t> dans  10mn?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6766560" y="3487979"/>
            <a:ext cx="0" cy="636942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76" name="Text 74"/>
          <p:cNvSpPr/>
          <p:nvPr/>
        </p:nvSpPr>
        <p:spPr>
          <a:xfrm>
            <a:off x="6619574" y="3131821"/>
            <a:ext cx="41148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13" dirty="0">
                <a:solidFill>
                  <a:srgbClr val="64748B"/>
                </a:solidFill>
              </a:rPr>
              <a:t>NON</a:t>
            </a:r>
            <a:endParaRPr lang="en-US" sz="413" dirty="0"/>
          </a:p>
        </p:txBody>
      </p:sp>
      <p:sp>
        <p:nvSpPr>
          <p:cNvPr id="77" name="Shape 75"/>
          <p:cNvSpPr/>
          <p:nvPr/>
        </p:nvSpPr>
        <p:spPr>
          <a:xfrm>
            <a:off x="6297279" y="2761873"/>
            <a:ext cx="960120" cy="201626"/>
          </a:xfrm>
          <a:prstGeom prst="rect">
            <a:avLst/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6279641" y="2759615"/>
            <a:ext cx="960120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Fin d'alerte</a:t>
            </a:r>
            <a:endParaRPr lang="en-US" sz="563" dirty="0"/>
          </a:p>
        </p:txBody>
      </p:sp>
      <p:sp>
        <p:nvSpPr>
          <p:cNvPr id="79" name="Text 77"/>
          <p:cNvSpPr/>
          <p:nvPr/>
        </p:nvSpPr>
        <p:spPr>
          <a:xfrm>
            <a:off x="6584726" y="3656650"/>
            <a:ext cx="3429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13" dirty="0">
                <a:solidFill>
                  <a:srgbClr val="64748B"/>
                </a:solidFill>
              </a:rPr>
              <a:t>OUI</a:t>
            </a:r>
            <a:endParaRPr lang="en-US" sz="413" dirty="0"/>
          </a:p>
        </p:txBody>
      </p:sp>
      <p:sp>
        <p:nvSpPr>
          <p:cNvPr id="82" name="Shape 80"/>
          <p:cNvSpPr/>
          <p:nvPr/>
        </p:nvSpPr>
        <p:spPr>
          <a:xfrm flipH="1" flipV="1">
            <a:off x="7430865" y="3138907"/>
            <a:ext cx="25401" cy="1094506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arrow"/>
          </a:ln>
        </p:spPr>
      </p:sp>
      <p:sp>
        <p:nvSpPr>
          <p:cNvPr id="83" name="Text 81"/>
          <p:cNvSpPr/>
          <p:nvPr/>
        </p:nvSpPr>
        <p:spPr>
          <a:xfrm>
            <a:off x="4599432" y="3378937"/>
            <a:ext cx="2743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84" name="Shape 82"/>
          <p:cNvSpPr/>
          <p:nvPr/>
        </p:nvSpPr>
        <p:spPr>
          <a:xfrm>
            <a:off x="3422904" y="4074373"/>
            <a:ext cx="2331720" cy="25923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5614416" y="3625825"/>
            <a:ext cx="123444" cy="116654"/>
          </a:xfrm>
          <a:prstGeom prst="rect">
            <a:avLst/>
          </a:prstGeom>
          <a:noFill/>
          <a:ln/>
        </p:spPr>
        <p:txBody>
          <a:bodyPr wrap="square" lIns="9525" tIns="9525" rIns="9525" bIns="9525" rtlCol="0" anchor="t"/>
          <a:lstStyle/>
          <a:p>
            <a:r>
              <a:rPr lang="en-US" sz="675" b="1" dirty="0">
                <a:solidFill>
                  <a:srgbClr val="FFFFFF"/>
                </a:solidFill>
              </a:rPr>
              <a:t>?</a:t>
            </a:r>
            <a:endParaRPr lang="en-US" sz="675" dirty="0"/>
          </a:p>
        </p:txBody>
      </p:sp>
      <p:sp>
        <p:nvSpPr>
          <p:cNvPr id="86" name="Text 84"/>
          <p:cNvSpPr/>
          <p:nvPr/>
        </p:nvSpPr>
        <p:spPr>
          <a:xfrm>
            <a:off x="3440430" y="4032419"/>
            <a:ext cx="2331720" cy="37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Dernier CG &lt; 30 min ?</a:t>
            </a:r>
            <a:endParaRPr lang="en-US" sz="563" dirty="0"/>
          </a:p>
        </p:txBody>
      </p:sp>
      <p:sp>
        <p:nvSpPr>
          <p:cNvPr id="90" name="Shape 88"/>
          <p:cNvSpPr/>
          <p:nvPr/>
        </p:nvSpPr>
        <p:spPr>
          <a:xfrm>
            <a:off x="6327648" y="4114559"/>
            <a:ext cx="960120" cy="259232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6130290" y="4154576"/>
            <a:ext cx="960120" cy="134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Prolonger alerte</a:t>
            </a:r>
            <a:endParaRPr lang="en-US" sz="563" dirty="0"/>
          </a:p>
        </p:txBody>
      </p:sp>
      <p:sp>
        <p:nvSpPr>
          <p:cNvPr id="92" name="Text 90"/>
          <p:cNvSpPr/>
          <p:nvPr/>
        </p:nvSpPr>
        <p:spPr>
          <a:xfrm>
            <a:off x="6323838" y="4267520"/>
            <a:ext cx="960120" cy="12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dirty="0">
                <a:solidFill>
                  <a:srgbClr val="FFFFFF"/>
                </a:solidFill>
              </a:rPr>
              <a:t>+10 min</a:t>
            </a:r>
            <a:endParaRPr lang="en-US" sz="488" dirty="0"/>
          </a:p>
        </p:txBody>
      </p:sp>
      <p:sp>
        <p:nvSpPr>
          <p:cNvPr id="97" name="Shape 95"/>
          <p:cNvSpPr/>
          <p:nvPr/>
        </p:nvSpPr>
        <p:spPr>
          <a:xfrm>
            <a:off x="3739515" y="4544762"/>
            <a:ext cx="1645920" cy="244831"/>
          </a:xfrm>
          <a:prstGeom prst="rect">
            <a:avLst/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3717798" y="4549557"/>
            <a:ext cx="1645920" cy="244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Alerte levée définitivement</a:t>
            </a:r>
            <a:endParaRPr lang="en-US" sz="563" dirty="0"/>
          </a:p>
        </p:txBody>
      </p:sp>
      <p:sp>
        <p:nvSpPr>
          <p:cNvPr id="99" name="Shape 97"/>
          <p:cNvSpPr/>
          <p:nvPr/>
        </p:nvSpPr>
        <p:spPr>
          <a:xfrm>
            <a:off x="1348740" y="4869180"/>
            <a:ext cx="137160" cy="102870"/>
          </a:xfrm>
          <a:prstGeom prst="rect">
            <a:avLst/>
          </a:prstGeom>
          <a:solidFill>
            <a:srgbClr val="065A82"/>
          </a:solidFill>
          <a:ln w="3810">
            <a:solidFill>
              <a:srgbClr val="065A8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513332" y="4869180"/>
            <a:ext cx="8915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Décision modèle</a:t>
            </a:r>
            <a:endParaRPr lang="en-US" sz="450" dirty="0"/>
          </a:p>
        </p:txBody>
      </p:sp>
      <p:sp>
        <p:nvSpPr>
          <p:cNvPr id="101" name="Shape 99"/>
          <p:cNvSpPr/>
          <p:nvPr/>
        </p:nvSpPr>
        <p:spPr>
          <a:xfrm>
            <a:off x="2446020" y="4869180"/>
            <a:ext cx="137160" cy="102870"/>
          </a:xfrm>
          <a:prstGeom prst="rect">
            <a:avLst/>
          </a:prstGeom>
          <a:solidFill>
            <a:srgbClr val="0D9488"/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610612" y="4869180"/>
            <a:ext cx="8915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Modèle 10 min</a:t>
            </a:r>
            <a:endParaRPr lang="en-US" sz="450" dirty="0"/>
          </a:p>
        </p:txBody>
      </p:sp>
      <p:sp>
        <p:nvSpPr>
          <p:cNvPr id="103" name="Shape 101"/>
          <p:cNvSpPr/>
          <p:nvPr/>
        </p:nvSpPr>
        <p:spPr>
          <a:xfrm>
            <a:off x="3543300" y="4869180"/>
            <a:ext cx="137160" cy="102870"/>
          </a:xfrm>
          <a:prstGeom prst="rect">
            <a:avLst/>
          </a:prstGeom>
          <a:solidFill>
            <a:srgbClr val="7C3AED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07892" y="4869180"/>
            <a:ext cx="8915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Danger &lt; 3 km</a:t>
            </a:r>
            <a:endParaRPr lang="en-US" sz="450" dirty="0"/>
          </a:p>
        </p:txBody>
      </p:sp>
      <p:sp>
        <p:nvSpPr>
          <p:cNvPr id="105" name="Shape 103"/>
          <p:cNvSpPr/>
          <p:nvPr/>
        </p:nvSpPr>
        <p:spPr>
          <a:xfrm>
            <a:off x="4640580" y="4869180"/>
            <a:ext cx="137160" cy="102870"/>
          </a:xfrm>
          <a:prstGeom prst="rect">
            <a:avLst/>
          </a:prstGeom>
          <a:solidFill>
            <a:srgbClr val="DC2626"/>
          </a:solidFill>
          <a:ln w="3810">
            <a:solidFill>
              <a:srgbClr val="DC262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805172" y="4869180"/>
            <a:ext cx="8915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Alerte active</a:t>
            </a:r>
            <a:endParaRPr lang="en-US" sz="450" dirty="0"/>
          </a:p>
        </p:txBody>
      </p:sp>
      <p:sp>
        <p:nvSpPr>
          <p:cNvPr id="107" name="Shape 105"/>
          <p:cNvSpPr/>
          <p:nvPr/>
        </p:nvSpPr>
        <p:spPr>
          <a:xfrm>
            <a:off x="5737860" y="4869180"/>
            <a:ext cx="137160" cy="102870"/>
          </a:xfrm>
          <a:prstGeom prst="rect">
            <a:avLst/>
          </a:prstGeom>
          <a:solidFill>
            <a:srgbClr val="059669"/>
          </a:solidFill>
          <a:ln w="3810">
            <a:solidFill>
              <a:srgbClr val="05966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902452" y="4869180"/>
            <a:ext cx="8915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Fin d'alerte</a:t>
            </a:r>
            <a:endParaRPr lang="en-US" sz="450" dirty="0"/>
          </a:p>
        </p:txBody>
      </p:sp>
      <p:sp>
        <p:nvSpPr>
          <p:cNvPr id="109" name="Shape 107"/>
          <p:cNvSpPr/>
          <p:nvPr/>
        </p:nvSpPr>
        <p:spPr>
          <a:xfrm>
            <a:off x="6835140" y="4869180"/>
            <a:ext cx="137160" cy="102870"/>
          </a:xfrm>
          <a:prstGeom prst="rect">
            <a:avLst/>
          </a:prstGeom>
          <a:solidFill>
            <a:srgbClr val="64748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99732" y="4869180"/>
            <a:ext cx="8915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Attente / neutre</a:t>
            </a:r>
            <a:endParaRPr lang="en-US" sz="450" dirty="0"/>
          </a:p>
        </p:txBody>
      </p:sp>
      <p:sp>
        <p:nvSpPr>
          <p:cNvPr id="113" name="Text 35">
            <a:extLst>
              <a:ext uri="{FF2B5EF4-FFF2-40B4-BE49-F238E27FC236}">
                <a16:creationId xmlns:a16="http://schemas.microsoft.com/office/drawing/2014/main" id="{656DBC27-11D7-4FEE-A93B-B78C412942B8}"/>
              </a:ext>
            </a:extLst>
          </p:cNvPr>
          <p:cNvSpPr/>
          <p:nvPr/>
        </p:nvSpPr>
        <p:spPr>
          <a:xfrm>
            <a:off x="3036189" y="2021053"/>
            <a:ext cx="2743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115" name="Shape 52">
            <a:extLst>
              <a:ext uri="{FF2B5EF4-FFF2-40B4-BE49-F238E27FC236}">
                <a16:creationId xmlns:a16="http://schemas.microsoft.com/office/drawing/2014/main" id="{46D27081-476E-423C-B54C-FEDF13C09D1C}"/>
              </a:ext>
            </a:extLst>
          </p:cNvPr>
          <p:cNvSpPr/>
          <p:nvPr/>
        </p:nvSpPr>
        <p:spPr>
          <a:xfrm flipH="1">
            <a:off x="2887599" y="2136542"/>
            <a:ext cx="448056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17" name="Shape 80">
            <a:extLst>
              <a:ext uri="{FF2B5EF4-FFF2-40B4-BE49-F238E27FC236}">
                <a16:creationId xmlns:a16="http://schemas.microsoft.com/office/drawing/2014/main" id="{300A8104-71A5-423D-9528-3EC24E241D84}"/>
              </a:ext>
            </a:extLst>
          </p:cNvPr>
          <p:cNvSpPr/>
          <p:nvPr/>
        </p:nvSpPr>
        <p:spPr>
          <a:xfrm flipV="1">
            <a:off x="6756176" y="2953740"/>
            <a:ext cx="3525" cy="245997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arrow"/>
          </a:ln>
        </p:spPr>
      </p:sp>
      <p:sp>
        <p:nvSpPr>
          <p:cNvPr id="119" name="Text 94">
            <a:extLst>
              <a:ext uri="{FF2B5EF4-FFF2-40B4-BE49-F238E27FC236}">
                <a16:creationId xmlns:a16="http://schemas.microsoft.com/office/drawing/2014/main" id="{772D994C-C565-4283-8946-282E84F9870D}"/>
              </a:ext>
            </a:extLst>
          </p:cNvPr>
          <p:cNvSpPr/>
          <p:nvPr/>
        </p:nvSpPr>
        <p:spPr>
          <a:xfrm>
            <a:off x="4606290" y="4379397"/>
            <a:ext cx="274320" cy="15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120" name="Shape 85">
            <a:extLst>
              <a:ext uri="{FF2B5EF4-FFF2-40B4-BE49-F238E27FC236}">
                <a16:creationId xmlns:a16="http://schemas.microsoft.com/office/drawing/2014/main" id="{3813F7D5-32D1-40A0-AD80-A629505167CD}"/>
              </a:ext>
            </a:extLst>
          </p:cNvPr>
          <p:cNvSpPr/>
          <p:nvPr/>
        </p:nvSpPr>
        <p:spPr>
          <a:xfrm>
            <a:off x="4537711" y="4397637"/>
            <a:ext cx="6858" cy="109728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21" name="Text 87">
            <a:extLst>
              <a:ext uri="{FF2B5EF4-FFF2-40B4-BE49-F238E27FC236}">
                <a16:creationId xmlns:a16="http://schemas.microsoft.com/office/drawing/2014/main" id="{BDA90538-A5AC-4CFC-AA1A-E71089395EAF}"/>
              </a:ext>
            </a:extLst>
          </p:cNvPr>
          <p:cNvSpPr/>
          <p:nvPr/>
        </p:nvSpPr>
        <p:spPr>
          <a:xfrm>
            <a:off x="5740146" y="4159466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122" name="Shape 86">
            <a:extLst>
              <a:ext uri="{FF2B5EF4-FFF2-40B4-BE49-F238E27FC236}">
                <a16:creationId xmlns:a16="http://schemas.microsoft.com/office/drawing/2014/main" id="{838CF1F8-73DA-4A4C-BCA4-CFC948C20C28}"/>
              </a:ext>
            </a:extLst>
          </p:cNvPr>
          <p:cNvSpPr/>
          <p:nvPr/>
        </p:nvSpPr>
        <p:spPr>
          <a:xfrm>
            <a:off x="5799582" y="4262336"/>
            <a:ext cx="548640" cy="6858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23" name="Shape 78">
            <a:extLst>
              <a:ext uri="{FF2B5EF4-FFF2-40B4-BE49-F238E27FC236}">
                <a16:creationId xmlns:a16="http://schemas.microsoft.com/office/drawing/2014/main" id="{FA5E7514-B9D1-4C68-BEBC-A45D417F24F8}"/>
              </a:ext>
            </a:extLst>
          </p:cNvPr>
          <p:cNvSpPr/>
          <p:nvPr/>
        </p:nvSpPr>
        <p:spPr>
          <a:xfrm>
            <a:off x="4606290" y="3125191"/>
            <a:ext cx="2811525" cy="13876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none"/>
          </a:ln>
        </p:spPr>
      </p:sp>
      <p:sp>
        <p:nvSpPr>
          <p:cNvPr id="124" name="Shape 78">
            <a:extLst>
              <a:ext uri="{FF2B5EF4-FFF2-40B4-BE49-F238E27FC236}">
                <a16:creationId xmlns:a16="http://schemas.microsoft.com/office/drawing/2014/main" id="{57A8B072-133D-4DC4-9674-3805DCD29A58}"/>
              </a:ext>
            </a:extLst>
          </p:cNvPr>
          <p:cNvSpPr/>
          <p:nvPr/>
        </p:nvSpPr>
        <p:spPr>
          <a:xfrm flipV="1">
            <a:off x="7291578" y="4247128"/>
            <a:ext cx="164688" cy="0"/>
          </a:xfrm>
          <a:prstGeom prst="line">
            <a:avLst/>
          </a:prstGeom>
          <a:noFill/>
          <a:ln w="7620">
            <a:solidFill>
              <a:srgbClr val="64748B"/>
            </a:solidFill>
            <a:prstDash val="dash"/>
            <a:tailEnd type="none"/>
          </a:ln>
        </p:spPr>
      </p:sp>
      <p:sp>
        <p:nvSpPr>
          <p:cNvPr id="125" name="Text 53">
            <a:extLst>
              <a:ext uri="{FF2B5EF4-FFF2-40B4-BE49-F238E27FC236}">
                <a16:creationId xmlns:a16="http://schemas.microsoft.com/office/drawing/2014/main" id="{7A265752-D4E2-42BD-A01A-DA6818BC0762}"/>
              </a:ext>
            </a:extLst>
          </p:cNvPr>
          <p:cNvSpPr/>
          <p:nvPr/>
        </p:nvSpPr>
        <p:spPr>
          <a:xfrm>
            <a:off x="4366260" y="3725230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  <p:sp>
        <p:nvSpPr>
          <p:cNvPr id="126" name="Shape 3">
            <a:extLst>
              <a:ext uri="{FF2B5EF4-FFF2-40B4-BE49-F238E27FC236}">
                <a16:creationId xmlns:a16="http://schemas.microsoft.com/office/drawing/2014/main" id="{4E51D512-508A-4FBD-8A3B-8B7CA9571934}"/>
              </a:ext>
            </a:extLst>
          </p:cNvPr>
          <p:cNvSpPr/>
          <p:nvPr/>
        </p:nvSpPr>
        <p:spPr>
          <a:xfrm>
            <a:off x="1410462" y="751637"/>
            <a:ext cx="1645920" cy="288036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M" sz="1350" dirty="0"/>
          </a:p>
        </p:txBody>
      </p:sp>
      <p:sp>
        <p:nvSpPr>
          <p:cNvPr id="127" name="Text 4">
            <a:extLst>
              <a:ext uri="{FF2B5EF4-FFF2-40B4-BE49-F238E27FC236}">
                <a16:creationId xmlns:a16="http://schemas.microsoft.com/office/drawing/2014/main" id="{F932472C-2BA1-4486-A991-0683228B06C5}"/>
              </a:ext>
            </a:extLst>
          </p:cNvPr>
          <p:cNvSpPr/>
          <p:nvPr/>
        </p:nvSpPr>
        <p:spPr>
          <a:xfrm>
            <a:off x="1239774" y="780666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</a:rPr>
              <a:t>Éclair CG 20km hors </a:t>
            </a:r>
            <a:r>
              <a:rPr lang="en-US" sz="563" b="1" dirty="0" err="1">
                <a:solidFill>
                  <a:srgbClr val="FFFFFF"/>
                </a:solidFill>
              </a:rPr>
              <a:t>alerte</a:t>
            </a:r>
            <a:r>
              <a:rPr lang="en-US" sz="563" b="1" dirty="0">
                <a:solidFill>
                  <a:srgbClr val="FFFFFF"/>
                </a:solidFill>
              </a:rPr>
              <a:t> ?</a:t>
            </a:r>
            <a:endParaRPr lang="en-US" sz="563" dirty="0"/>
          </a:p>
        </p:txBody>
      </p:sp>
      <p:sp>
        <p:nvSpPr>
          <p:cNvPr id="128" name="Shape 66">
            <a:extLst>
              <a:ext uri="{FF2B5EF4-FFF2-40B4-BE49-F238E27FC236}">
                <a16:creationId xmlns:a16="http://schemas.microsoft.com/office/drawing/2014/main" id="{31B8AEF2-29B3-4598-80FA-A79D72430CAB}"/>
              </a:ext>
            </a:extLst>
          </p:cNvPr>
          <p:cNvSpPr/>
          <p:nvPr/>
        </p:nvSpPr>
        <p:spPr>
          <a:xfrm>
            <a:off x="2360676" y="1072592"/>
            <a:ext cx="23622" cy="894969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29" name="Text 35">
            <a:extLst>
              <a:ext uri="{FF2B5EF4-FFF2-40B4-BE49-F238E27FC236}">
                <a16:creationId xmlns:a16="http://schemas.microsoft.com/office/drawing/2014/main" id="{EB65921F-02A0-46E8-9181-8396188889A0}"/>
              </a:ext>
            </a:extLst>
          </p:cNvPr>
          <p:cNvSpPr/>
          <p:nvPr/>
        </p:nvSpPr>
        <p:spPr>
          <a:xfrm>
            <a:off x="2398014" y="1406918"/>
            <a:ext cx="2743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131" name="Shape 52">
            <a:extLst>
              <a:ext uri="{FF2B5EF4-FFF2-40B4-BE49-F238E27FC236}">
                <a16:creationId xmlns:a16="http://schemas.microsoft.com/office/drawing/2014/main" id="{D6754B5B-C75A-434E-AB83-B8C0FE888981}"/>
              </a:ext>
            </a:extLst>
          </p:cNvPr>
          <p:cNvSpPr/>
          <p:nvPr/>
        </p:nvSpPr>
        <p:spPr>
          <a:xfrm flipH="1">
            <a:off x="5796058" y="2323359"/>
            <a:ext cx="887444" cy="648938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32" name="Text 68">
            <a:extLst>
              <a:ext uri="{FF2B5EF4-FFF2-40B4-BE49-F238E27FC236}">
                <a16:creationId xmlns:a16="http://schemas.microsoft.com/office/drawing/2014/main" id="{DA423E7B-0ADD-4CD6-9AFD-AB5F47199F9A}"/>
              </a:ext>
            </a:extLst>
          </p:cNvPr>
          <p:cNvSpPr/>
          <p:nvPr/>
        </p:nvSpPr>
        <p:spPr>
          <a:xfrm>
            <a:off x="6560820" y="1578711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OUI</a:t>
            </a:r>
            <a:endParaRPr lang="en-US" sz="450" dirty="0"/>
          </a:p>
        </p:txBody>
      </p:sp>
      <p:sp>
        <p:nvSpPr>
          <p:cNvPr id="133" name="Shape 27">
            <a:extLst>
              <a:ext uri="{FF2B5EF4-FFF2-40B4-BE49-F238E27FC236}">
                <a16:creationId xmlns:a16="http://schemas.microsoft.com/office/drawing/2014/main" id="{54591A14-9E7D-4647-941F-A5563FF34269}"/>
              </a:ext>
            </a:extLst>
          </p:cNvPr>
          <p:cNvSpPr/>
          <p:nvPr/>
        </p:nvSpPr>
        <p:spPr>
          <a:xfrm flipH="1" flipV="1">
            <a:off x="6766560" y="1437253"/>
            <a:ext cx="16383" cy="685455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34" name="Text 28">
            <a:extLst>
              <a:ext uri="{FF2B5EF4-FFF2-40B4-BE49-F238E27FC236}">
                <a16:creationId xmlns:a16="http://schemas.microsoft.com/office/drawing/2014/main" id="{9ABA5FB7-C324-43E3-8D0C-2C3D6F336B17}"/>
              </a:ext>
            </a:extLst>
          </p:cNvPr>
          <p:cNvSpPr/>
          <p:nvPr/>
        </p:nvSpPr>
        <p:spPr>
          <a:xfrm>
            <a:off x="5753116" y="1741613"/>
            <a:ext cx="54864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" dirty="0">
                <a:solidFill>
                  <a:srgbClr val="64748B"/>
                </a:solidFill>
              </a:rPr>
              <a:t>NON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 résumé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E8"/>
                </a:solidFill>
              </a:rPr>
              <a:t>Cible binaire : prochain CG ≤ 20 km dans 30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E8"/>
                </a:solidFill>
              </a:rPr>
              <a:t>38 features : délais, activité, trajectoire, amplitude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384048" cy="38404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3225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E8"/>
                </a:solidFill>
              </a:rPr>
              <a:t>6 aéroports — hétérogénéité prise en compte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8895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E8"/>
                </a:solidFill>
              </a:rPr>
              <a:t>AUC OOT ~0.84 — stable hors temps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384048" cy="38404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4564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E8"/>
                </a:solidFill>
              </a:rPr>
              <a:t>Gain estimé : 10–15 min par alerte levée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84048" cy="38404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023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E8"/>
                </a:solidFill>
              </a:rPr>
              <a:t>Pistes : modèle de survie Weibull, LSTM irrégulier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1371600"/>
            <a:ext cx="2743200" cy="13716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⚡ MÉTÉORAGE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436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Data Battle 2026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8D4E8"/>
                </a:solidFill>
              </a:rPr>
              <a:t>Merci pour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805</Words>
  <Application>Microsoft Office PowerPoint</Application>
  <PresentationFormat>Affichage à l'écran (16:9)</PresentationFormat>
  <Paragraphs>226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Meteorage Data Battle 2026</dc:title>
  <dc:subject>PptxGenJS Presentation</dc:subject>
  <dc:creator>PptxGenJS</dc:creator>
  <cp:lastModifiedBy>Charlin DJIOKO</cp:lastModifiedBy>
  <cp:revision>8</cp:revision>
  <dcterms:created xsi:type="dcterms:W3CDTF">2026-03-23T20:04:12Z</dcterms:created>
  <dcterms:modified xsi:type="dcterms:W3CDTF">2026-03-25T14:12:36Z</dcterms:modified>
</cp:coreProperties>
</file>